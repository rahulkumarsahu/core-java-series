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0b0bfc0d954c10" /><Relationship Type="http://schemas.openxmlformats.org/officeDocument/2006/relationships/extended-properties" Target="/docProps/app.xml" Id="R605843c6cf1e4087" /><Relationship Type="http://schemas.openxmlformats.org/officeDocument/2006/relationships/officeDocument" Target="/ppt/presentation.xml" Id="R9b253422c2fe46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24d6827c44d00"/>
  </p:sldMasterIdLst>
  <p:notesMasterIdLst>
    <p:notesMasterId xmlns:r="http://schemas.openxmlformats.org/officeDocument/2006/relationships" r:id="R7d72ee0709ad4bbe"/>
  </p:notesMasterIdLst>
  <p:sldIdLst>
    <p:sldId xmlns:r="http://schemas.openxmlformats.org/officeDocument/2006/relationships" id="256" r:id="R4581f7866dc14462"/>
    <p:sldId xmlns:r="http://schemas.openxmlformats.org/officeDocument/2006/relationships" id="257" r:id="R35de7445ece248eb"/>
    <p:sldId xmlns:r="http://schemas.openxmlformats.org/officeDocument/2006/relationships" id="258" r:id="R5beba6a9bc7545d0"/>
    <p:sldId xmlns:r="http://schemas.openxmlformats.org/officeDocument/2006/relationships" id="259" r:id="R0e38c12792c9417a"/>
    <p:sldId xmlns:r="http://schemas.openxmlformats.org/officeDocument/2006/relationships" id="260" r:id="R7a90c9b3250c416b"/>
    <p:sldId xmlns:r="http://schemas.openxmlformats.org/officeDocument/2006/relationships" id="261" r:id="R50d30e2fd45a49ed"/>
    <p:sldId xmlns:r="http://schemas.openxmlformats.org/officeDocument/2006/relationships" id="262" r:id="R86a84fc9301b4bc2"/>
    <p:sldId xmlns:r="http://schemas.openxmlformats.org/officeDocument/2006/relationships" id="263" r:id="R55d2d1d977a44c0f"/>
    <p:sldId xmlns:r="http://schemas.openxmlformats.org/officeDocument/2006/relationships" id="264" r:id="R83582add91f64081"/>
    <p:sldId xmlns:r="http://schemas.openxmlformats.org/officeDocument/2006/relationships" id="265" r:id="R1d6098a3bbbb48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42fb8e3673499d" /><Relationship Type="http://schemas.openxmlformats.org/officeDocument/2006/relationships/slideMaster" Target="/ppt/slideMasters/slideMaster1.xml" Id="R7f224d6827c44d00" /><Relationship Type="http://schemas.openxmlformats.org/officeDocument/2006/relationships/notesMaster" Target="/ppt/notesMasters/notesMaster1.xml" Id="R7d72ee0709ad4bbe" /><Relationship Type="http://schemas.openxmlformats.org/officeDocument/2006/relationships/presProps" Target="/ppt/presProps.xml" Id="Ra62ec547aec64549" /><Relationship Type="http://schemas.openxmlformats.org/officeDocument/2006/relationships/tableStyles" Target="/ppt/tableStyles.xml" Id="R913f3ac1cf434a60" /><Relationship Type="http://schemas.openxmlformats.org/officeDocument/2006/relationships/slide" Target="/ppt/slides/slide1.xml" Id="R4581f7866dc14462" /><Relationship Type="http://schemas.openxmlformats.org/officeDocument/2006/relationships/slide" Target="/ppt/slides/slide2.xml" Id="R35de7445ece248eb" /><Relationship Type="http://schemas.openxmlformats.org/officeDocument/2006/relationships/slide" Target="/ppt/slides/slide3.xml" Id="R5beba6a9bc7545d0" /><Relationship Type="http://schemas.openxmlformats.org/officeDocument/2006/relationships/slide" Target="/ppt/slides/slide4.xml" Id="R0e38c12792c9417a" /><Relationship Type="http://schemas.openxmlformats.org/officeDocument/2006/relationships/slide" Target="/ppt/slides/slide5.xml" Id="R7a90c9b3250c416b" /><Relationship Type="http://schemas.openxmlformats.org/officeDocument/2006/relationships/slide" Target="/ppt/slides/slide6.xml" Id="R50d30e2fd45a49ed" /><Relationship Type="http://schemas.openxmlformats.org/officeDocument/2006/relationships/slide" Target="/ppt/slides/slide7.xml" Id="R86a84fc9301b4bc2" /><Relationship Type="http://schemas.openxmlformats.org/officeDocument/2006/relationships/slide" Target="/ppt/slides/slide8.xml" Id="R55d2d1d977a44c0f" /><Relationship Type="http://schemas.openxmlformats.org/officeDocument/2006/relationships/slide" Target="/ppt/slides/slide9.xml" Id="R83582add91f64081" /><Relationship Type="http://schemas.openxmlformats.org/officeDocument/2006/relationships/slide" Target="/ppt/slides/slide10.xml" Id="R1d6098a3bbbb48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7418e0aaae40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6324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9481b5c57c435e" /><Relationship Type="http://schemas.openxmlformats.org/officeDocument/2006/relationships/notesMaster" Target="/ppt/notesMasters/notesMaster1.xml" Id="R40d956b8b29f49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b8db5985c74340" /><Relationship Type="http://schemas.openxmlformats.org/officeDocument/2006/relationships/notesMaster" Target="/ppt/notesMasters/notesMaster1.xml" Id="R915a9e4ced1542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5290c6dd97491c" /><Relationship Type="http://schemas.openxmlformats.org/officeDocument/2006/relationships/notesMaster" Target="/ppt/notesMasters/notesMaster1.xml" Id="R17835402a6f74d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88a70a231345b6" /><Relationship Type="http://schemas.openxmlformats.org/officeDocument/2006/relationships/notesMaster" Target="/ppt/notesMasters/notesMaster1.xml" Id="Rd118eb01ecee41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0b3cadc57c494b" /><Relationship Type="http://schemas.openxmlformats.org/officeDocument/2006/relationships/notesMaster" Target="/ppt/notesMasters/notesMaster1.xml" Id="Rbb352c4213b541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9fba3d1caf4990" /><Relationship Type="http://schemas.openxmlformats.org/officeDocument/2006/relationships/notesMaster" Target="/ppt/notesMasters/notesMaster1.xml" Id="Rc0014dd9709e45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f46aa8dbbd403e" /><Relationship Type="http://schemas.openxmlformats.org/officeDocument/2006/relationships/notesMaster" Target="/ppt/notesMasters/notesMaster1.xml" Id="R2e848ef0529045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3d0953f1504986" /><Relationship Type="http://schemas.openxmlformats.org/officeDocument/2006/relationships/notesMaster" Target="/ppt/notesMasters/notesMaster1.xml" Id="Rf4ded5aa33284f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2f0a84bb8e40c9" /><Relationship Type="http://schemas.openxmlformats.org/officeDocument/2006/relationships/notesMaster" Target="/ppt/notesMasters/notesMaster1.xml" Id="R31e1fe70464d4a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97b259ee744bd7" /><Relationship Type="http://schemas.openxmlformats.org/officeDocument/2006/relationships/notesMaster" Target="/ppt/notesMasters/notesMaster1.xml" Id="Rff97bafdd28a4b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audience problem: engineers should not have to read an entire noisy build log to find a small failure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every later comparison depends on the same preprocessing versions used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left/right contrast to explain why line proximity is useful for Jules but potentially misleading for Lattice.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- /Users/rahulkumar/Documents/Project/logsift/engineeringDocs/implementation/Offline_Baseline_Storage_and_Template_Management.md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Normalization is formatting cleanup. It must not be confused with redaction or masking.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Redaction is irreversible in derived artifacts. The restricted source log remains separately governed.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phrase: redact secrets, mask variability, preserve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Drain does not understand Jules or Lattice. The source adapter establishes scope before Drain sees the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- /Users/rahulkumar/Documents/Project/logsift/engineeringDocs/implementation/Offline_Baseline_Storage_and_Template_Management.md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templates.json as the runtime comparison input and drain3_state.json as parser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- /Users/rahulkumar/Documents/Project/logsift/engineeringDocs/implementation/Offline_Baseline_Storage_and_Template_Management.md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Repeat the four-part key exactly. Baseline version is a child version, not a fifth ownership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- /Users/rahulkumar/Documents/Project/logsift/engineeringDocs/implementation/Offline_Baseline_Storage_and_Template_Management.md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making the Phase 2 contract explicit. The audience should now understand exactly what the offline flow produces.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25178ea5a40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0069261d4f4c0f" /><Relationship Type="http://schemas.openxmlformats.org/officeDocument/2006/relationships/slideLayout" Target="/ppt/slideLayouts/slideLayout1.xml" Id="R3d5b3b35a37e47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5b3b35a37e47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6324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a56e912a1485d" /><Relationship Type="http://schemas.openxmlformats.org/officeDocument/2006/relationships/notesSlide" Target="/ppt/notesSlides/notesSlide1.xml" Id="Rcb0e374cb6b447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c8e8c28064588" /><Relationship Type="http://schemas.openxmlformats.org/officeDocument/2006/relationships/notesSlide" Target="/ppt/notesSlides/notesSlide2.xml" Id="R37073ffb81cd45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d095fc2634e3f" /><Relationship Type="http://schemas.openxmlformats.org/officeDocument/2006/relationships/notesSlide" Target="/ppt/notesSlides/notesSlide3.xml" Id="Raaef8e428dcf46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b09c9b7f54a05" /><Relationship Type="http://schemas.openxmlformats.org/officeDocument/2006/relationships/notesSlide" Target="/ppt/notesSlides/notesSlide4.xml" Id="R836d7489a36047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cacb1f99c459b" /><Relationship Type="http://schemas.openxmlformats.org/officeDocument/2006/relationships/notesSlide" Target="/ppt/notesSlides/notesSlide5.xml" Id="R2dcc5541d99147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bb996c7474159" /><Relationship Type="http://schemas.openxmlformats.org/officeDocument/2006/relationships/notesSlide" Target="/ppt/notesSlides/notesSlide6.xml" Id="Ra030ae90ead14e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63b2e794d4244" /><Relationship Type="http://schemas.openxmlformats.org/officeDocument/2006/relationships/notesSlide" Target="/ppt/notesSlides/notesSlide7.xml" Id="R2708b17506774e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d24b5243c4b7b" /><Relationship Type="http://schemas.openxmlformats.org/officeDocument/2006/relationships/notesSlide" Target="/ppt/notesSlides/notesSlide8.xml" Id="R79f4d9a3456640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0ddadd5f94c33" /><Relationship Type="http://schemas.openxmlformats.org/officeDocument/2006/relationships/notesSlide" Target="/ppt/notesSlides/notesSlide9.xml" Id="R1384903a90ab4d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da6f623f94150" /><Relationship Type="http://schemas.openxmlformats.org/officeDocument/2006/relationships/notesSlide" Target="/ppt/notesSlides/notesSlide10.xml" Id="Rb0686c7a84e24a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D09045-4035-466E-BB29-58F9E53D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E2A40-486C-4276-8C2C-73ADEDF8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BA9C5-28D1-4B2B-A420-BC0F331C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95C84-59B5-429E-B8A2-837C570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C77AF-85FD-4904-ACE3-A77694C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B4F35-E048-4740-9559-B8947F99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FCD7B-FA74-4B45-871D-647134EC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91BCB-0052-4E59-A972-2ABD9F6D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CB2A5-50B5-440B-BC27-F1F4B5E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A31C8-E2FA-4008-8991-7D174C17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69113-AAFA-415E-93B4-255AB43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95435-3CCA-4B25-9B0E-540672C8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4E8C4-9E0E-46F4-978D-EDAD216C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LOGSIFT · TECHNICAL SYSTEMS NOTEBOOK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1A129-0633-4E39-91D9-4C5ACDF1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4667D-FCAC-446B-8B1A-8E8510D3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497EC-3F82-4F25-B42C-8B7502C1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104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DDF1E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7" name="deck-title">
            <a:extLst xmlns:a="http://schemas.openxmlformats.org/drawingml/2006/main">
              <a:ext uri="{FF2B5EF4-FFF2-40B4-BE49-F238E27FC236}">
                <a16:creationId xmlns:a16="http://schemas.microsoft.com/office/drawing/2014/main" id="{96675076-EB6A-4D22-AD80-0F21F94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76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Logsift turns CI/CD noise into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A635D-3A74-4767-92D3-E0D138D7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Learn normal behavior from trusted successful runs—before a failure needs explaining.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E67B4-734B-4BCF-98A8-C22C0A6E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SUCCESSFUL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CI/CD 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2E659-EEEC-4630-A333-6D5F29A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7496E-CC49-4DA7-9D2E-BBD146D3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VERSIONED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2758A-2674-4225-88A1-C72C62F4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35314-C1FE-48EC-8B9A-FB070F84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FAILURE-READY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COMPARISON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F760A-F4D5-4625-BA9A-FB812EC1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33900"/>
            <a:ext cx="5829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B3EA2-7021-4A97-9BA3-132BE44D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829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CORE IDEA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Teach the system what “normal” looks like, then measure what changed.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F526D3-4B0C-43C4-A8CC-6430D27C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Technical architecture · reusable template · one idea per slide</a:t>
            </a:r>
          </a:p>
        </p:txBody>
      </p:sp>
    </p:spTree>
    <p:extLst>
      <p:ext uri="{BB962C8B-B14F-4D97-AF65-F5344CB8AC3E}">
        <p14:creationId xmlns:p14="http://schemas.microsoft.com/office/powerpoint/2010/main" val="1563501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2005D7-FA10-4555-9EC9-73EB889F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B5C4F-4B4A-46FE-A6BE-C148C8A6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23DB2-FA2A-4A3B-B973-5D67CA7C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B4969-630E-49AA-8F6C-1ACC5965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DBC3B-5D30-4B0C-925D-287889DB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2D793-E13B-495F-933A-9376B5C2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3DBDF-A20E-4CF8-9698-7020F632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D6895-61E3-4440-9E6F-F3B41A04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92FB9-691E-4B5E-B5DE-4897942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C5C20-1A38-4DF7-BE7B-005769B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557E7-833E-43A2-94C4-D21BC2DA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F1606-C56D-4E82-86E3-C2DD5873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AE4DB-F310-42B5-8A42-ECCF794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988E7-283F-465E-8FE1-21E23CB5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9B20D-B265-42CC-A8B7-E9ACEF7F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0EE70-5D78-4863-ACC9-A7BF72B1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 trusted success becomes a reusable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39B8B-D7AA-43CB-9F64-35BFF0D0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85FEE-031C-4815-8815-DFEBF46A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The offline flow is deterministic, versioned, and source-aware.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2EB06-6104-4651-932B-3B11BAD8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1181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B6533-4A22-461B-8BED-EC088E2B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D3ED4-96AD-4E71-904E-667C517E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9075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Detect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CBCE3-522D-4CF7-9A0B-BE6FD4D0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BF0CC-E6AA-43E5-85E8-C92863DE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90750"/>
            <a:ext cx="1200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Canonical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BC410-4993-4C13-8889-6E71B1A7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275CB-D344-4155-8B2F-50687A59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3DEC8-0450-4854-974D-63BBAC60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4DBF49-6D96-49FF-B78F-22D44321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971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Redact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32D96D-0F70-461D-907C-85551FF2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CE71B-358E-4DB7-B0BC-32BA84A8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6AF99D-C33E-43D2-BA8A-B474B01D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C4290-92D5-457F-AF44-C1A3CD1D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Drain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942A7B-8873-47FA-9144-471055BF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5C8419-4584-4368-ABCF-D068BCB9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19075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Publish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4FE523-753B-4346-B213-884CD16C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ADMISSION RULES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184387-1799-4329-BE8B-A0EF4F6C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B4E462-ABE8-42B0-8AFD-CF6B5779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481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Successful + complete + known source + trusted main/master or release/*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6213F2-3275-485E-8FB5-F440D223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844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444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1134BD-56FF-4F22-9E71-ED497FC4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767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Failed, cancelled, skipped, unstable, incomplete, or UNKNOWN source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1A15F9-4757-453C-8D65-E02CE858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276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E1C048-FFF1-427C-8E6C-A8BA53C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197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870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NON-NEGOTIABLE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 failed run never updates successful parser state or the shared baseline.</a:t>
            </a:r>
          </a:p>
        </p:txBody>
      </p:sp>
    </p:spTree>
    <p:extLst>
      <p:ext uri="{BB962C8B-B14F-4D97-AF65-F5344CB8AC3E}">
        <p14:creationId xmlns:p14="http://schemas.microsoft.com/office/powerpoint/2010/main" val="777994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F3FFA-0487-40BF-9F25-817ED865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597E5-127F-46D9-A65C-8669CA21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23BEF-262D-4B2D-8A18-D1F10A89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E6D21-87E6-4C6B-BD42-49E755B2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BDB08-8C60-4D4F-96C8-79CCC3B2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30CB0-19E8-41C4-B5E5-3EEEA69D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EB548-2035-4840-AF0F-412F3C42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56935-10EC-44D5-87D4-CCA099B5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A99B4-9651-46C5-AF21-B7FB278F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CB0C3-8D24-41E6-B7C8-1868AC10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1CFD4-222F-410B-97EB-5E899ABF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1E688-F869-49B8-A4DF-D8FD32B4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6E380-495F-45AB-90F6-22104985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88B76-D32E-443F-B712-C443C259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25902-CC03-4C22-8342-4DD8CD47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50699F-335A-438F-B14D-AADAF26C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Jules and Lattice cannot share a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619E8-A0E2-4D61-BC5C-772F5AEF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5FAFD-9D5E-49BA-83CC-9F5D81A4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They use one canonical event shape, but different ordering semantics.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39DCA-EB46-4364-88D8-A8EF6FCF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764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JULES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87C34-37FA-4AFC-AD5A-347F7F9B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DDF1E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SEQUENTIAL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F1884-F3C9-4679-AE50-79FFAED5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1F85C-0D1A-4098-BC93-3C27E12C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193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814BE-C7A1-4D94-B44B-851A4E38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82BA6-1B67-4902-86F9-B8D87E34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19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62465-C9ED-4181-A097-21C3E7FD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512BA-688D-4045-B734-F66D1699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Stage order is meaningful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Nearby lines usually share a stage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Compare within the same stage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9D0F2-26FF-45EF-A6F1-543B0E1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286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…/payment-api/JULES/v17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4EB0DA-99B1-446E-8A14-A1E30330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9525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D8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63DD50-2C52-49FC-A69D-5C16301A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7057A6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7057A6"/>
                </a:solidFill>
                <a:latin typeface="Aptos Mono"/>
                <a:ea typeface="Aptos Mono"/>
                <a:cs typeface="Aptos Mono"/>
              </a:rPr>
              <a:t>LATTICE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6FB38-2836-42E5-A8FC-86998D62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95450"/>
            <a:ext cx="13716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ECE5F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0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057A6"/>
                </a:solidFill>
                <a:latin typeface="Aptos"/>
                <a:ea typeface="Aptos"/>
                <a:cs typeface="Aptos"/>
              </a:rPr>
              <a:t>PARALLEL DAG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0C8EF-0971-4E37-ABC2-2670774C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62B078-DA59-4912-9188-A9994CFB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765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2453E-4C8C-4745-BBBB-733A1B07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04A252-08D5-4B7B-A122-97021A5B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9315F6-0EC7-4C71-BCA5-34A31D4D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764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787621-DC93-47AD-8A1E-43B1896F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860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C6644E-D7CF-476B-AC4E-6B233FEE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28875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E2C999-3553-4B27-A0C8-DB4A0C63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4533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Physical lines may interleave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Preserve node, attempt, local order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Compare inside the same DAG scope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873C0-431B-480F-95C1-E3176F7F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57750"/>
            <a:ext cx="4533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…/payment-api/LATTICE/v17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2936B3-A1B5-43F6-8312-EAA841A7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912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F6C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6C4F"/>
                </a:solidFill>
                <a:latin typeface="Aptos"/>
                <a:ea typeface="Aptos"/>
                <a:cs typeface="Aptos"/>
              </a:rPr>
              <a:t>Same repository. Two independent notions of “normal.”</a:t>
            </a:r>
          </a:p>
        </p:txBody>
      </p:sp>
    </p:spTree>
    <p:extLst>
      <p:ext uri="{BB962C8B-B14F-4D97-AF65-F5344CB8AC3E}">
        <p14:creationId xmlns:p14="http://schemas.microsoft.com/office/powerpoint/2010/main" val="624026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B81B9C-2FA2-44D0-ABEF-550C9ABF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27694-88D1-47BB-BDE0-187194DB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E51FE-C0E6-478D-8801-5B50760D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5966F-7222-499C-9194-014AC25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D31C0-C521-4A6E-94E3-26C03B6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0BAEE-589F-4200-8E05-1B9F8847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67CD4-E324-4DF1-9C9D-92EF2A4F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6C1FB-F3FE-415D-9196-397EB569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F6829-62BC-42A2-A4C8-BE9B7102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015BE-0A35-4843-AFE0-0D870338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9BDE1-4047-4E77-8EAA-74737C82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4F2D3-0519-49A8-8DC5-6284198B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96DB8-54A5-48DE-9964-D3978BF4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04E6C-7348-4580-8FAB-7A2477B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8A84A-293E-4159-AE56-BF55B5F9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6BF82E-DCA0-4119-8366-179D7D56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Normalization removes display noise—not meaning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ED601-EEB7-494C-B423-C489F2DF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18FA8-9D89-45E3-AB34-23C8D461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Provenance is captured before cleanup changes the 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AC2F7-450F-44CF-BE9F-7DD072D8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RAW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A5BFD-39A0-42C5-A064-FB089B0C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905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152400" tIns="15240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2026-08-24T09:31:04Z  [31mERROR[0m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worker 10.4.8.2 completed build 7312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progress 41%\rprogress 42%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F2D2B-6DD2-4CD6-81F3-8D1D956F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552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EC4F1-BFCE-421F-B9CF-EA67765E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66950"/>
            <a:ext cx="1562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8E5AD-CDA2-40B6-98CE-2D503D52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552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DB2EE-144E-4F84-97AE-5CEF1390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CLEAN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B568D-4A33-4E1A-ACE3-7CF4759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32575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133350" tIns="1524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message: ERROR worker 10.4.8.2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completed build 7312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metadata: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observed_at · physical_line · byte_range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702F9-6913-4808-B62E-566E910F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WHAT CHANGES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458222-B2E4-464E-BAD3-DF715C01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2724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UTF-8 + line endings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C046D-09CD-4F45-9C0F-0EC82C2B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362450"/>
            <a:ext cx="3028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ANSI + control characters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23623-6F3B-4913-9394-F2596C7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3028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Bounded progress rewrites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FA2F9E-0F0B-4650-9EAB-0E0BD82E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14950"/>
            <a:ext cx="925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38D1C7-9858-454A-A912-60A7F20B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925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KEEP THE TRUTH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Exit codes, exception types, failed tests, source files, and exact line provenance remain diagnostic evidence.</a:t>
            </a:r>
          </a:p>
        </p:txBody>
      </p:sp>
    </p:spTree>
    <p:extLst>
      <p:ext uri="{BB962C8B-B14F-4D97-AF65-F5344CB8AC3E}">
        <p14:creationId xmlns:p14="http://schemas.microsoft.com/office/powerpoint/2010/main" val="7884956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E2C07D-BED4-41EB-9832-D940B0BE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BC272-2CAA-4EAB-A774-2E99216D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F3829-DC86-4340-B9F1-CB433D60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034F1-5AE0-4C2C-8835-748752C8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852CE-C299-4A3E-A9A4-46B0559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F1442-A584-48A7-83C4-78E0F499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888FF-1131-4ACC-84B5-5FFA1997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3EA6F-C266-46D6-BF4C-05AE5F8C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8C726-8EBD-4FAB-A098-7060688E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9005A-504B-49D2-9980-F3D2B3E9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33ACC-0AD9-41E7-BD8C-7493F3AB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8756B-F287-4A83-80A8-EE49E8BD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CECBB-8794-464C-8070-EA332DD2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29224-1E05-46FC-AD13-91B1040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53F3D-B8E3-42AA-B34E-9AC913CB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350579-8CC9-4C57-8770-AC055750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56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Redaction is the security gate before derived data is stored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5CFFF-A084-45FF-AFD4-D5D5EEDB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34253-6C54-4C8C-8536-6FAE92A6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Secrets are removed permanently; audit metadata never records the secret value.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2EBF5-969F-45D3-9AE0-1F94025F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RESTRICTED RAW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EEA60-2C9D-4AB2-B3DC-F1B916A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4953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4763">
            <a:solidFill>
              <a:srgbClr val="DF6C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7D58D-761B-4E15-BC9A-9143FC22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6DDDA"/>
          </a:solidFill>
          <a:ln xmlns:a="http://schemas.openxmlformats.org/drawingml/2006/main" w="14288">
            <a:solidFill>
              <a:srgbClr val="B84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REDACTION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26D11-F6F7-4F00-A1BD-91ADDBB2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953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C5EA6-D32E-4BB5-B052-1FB71CE9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2647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PROTECTED DERIVED 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98EB6-EC1B-4367-B76A-7AB74DFC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3886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AUDIT: rule ID · category · position · 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742E7-FCF9-47B8-8C62-31B1D95F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8444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84444"/>
                </a:solidFill>
                <a:latin typeface="Aptos Mono"/>
                <a:ea typeface="Aptos Mono"/>
                <a:cs typeface="Aptos Mono"/>
              </a:rPr>
              <a:t>REMOVE OR SANITIZE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F9638B-E961-4156-AFEE-6639CA7F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3028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6DDDA"/>
          </a:solidFill>
          <a:ln xmlns:a="http://schemas.openxmlformats.org/drawingml/2006/main" w="14288">
            <a:solidFill>
              <a:srgbClr val="B8444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Token / password / private 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27A23A-1810-4D31-8B26-2C314769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264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6DDDA"/>
          </a:solidFill>
          <a:ln xmlns:a="http://schemas.openxmlformats.org/drawingml/2006/main" w="14288">
            <a:solidFill>
              <a:srgbClr val="B8444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Credentials inside URL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C4BD36-19B0-484E-8FB7-1CAE30C8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7670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6DDDA"/>
          </a:solidFill>
          <a:ln xmlns:a="http://schemas.openxmlformats.org/drawingml/2006/main" w="14288">
            <a:solidFill>
              <a:srgbClr val="B8444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Sensitive username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C43F9-E98F-49EC-AF31-A858D15E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76700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444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8444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B84444"/>
                </a:solidFill>
                <a:latin typeface="Aptos Mono"/>
                <a:ea typeface="Aptos Mono"/>
                <a:cs typeface="Aptos Mono"/>
              </a:rPr>
              <a:t>&lt;REDACTED_SECRET&gt;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AEFB8-A267-4F5D-A510-6554EC43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276850"/>
            <a:ext cx="6553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29C132-DA03-4D08-82DB-29B206CB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6553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FAIL CLOSED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If a redaction rule fails or the scan is uncertain, quarantine the run. Never publish the baseline.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AF8A8D-954F-46F9-98EA-D40395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Restricted raw storage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uses its own retention policy</a:t>
            </a:r>
          </a:p>
        </p:txBody>
      </p:sp>
    </p:spTree>
    <p:extLst>
      <p:ext uri="{BB962C8B-B14F-4D97-AF65-F5344CB8AC3E}">
        <p14:creationId xmlns:p14="http://schemas.microsoft.com/office/powerpoint/2010/main" val="1179858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DEF9A-CA05-4AFA-88E6-492A5F15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1A448-2A1F-4FEC-8E25-14ADCCA7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1D59F-6BF5-4FAE-BAE3-6ABA6ED3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52E34-5EE3-432A-9158-F8F42ED5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82C0C-4C18-4EAB-BECF-BC69C388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D5A1E-C632-4FCC-88A4-963461C0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9B987-DD14-4584-8399-A79943F1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34D7C-48E3-47F8-AE2B-EB43DB1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10345-08D8-4D93-8F48-62B45D56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CA15D-F2B9-43C4-8EC1-75B9D608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F0B37-82DA-4BF1-A881-1016CDC5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E7A32-8310-45E5-8ABA-7F39C295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EA7F5-67EA-4DC8-912A-1C227D6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4AB70-DFEB-4C63-997F-FEC4AE6C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EF456-90DB-40CE-80E1-96F019E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9E8DD4-04AF-438D-865C-32B61CEC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Mask variability; preserve diagnostic meaning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000E0-BAE2-4C1B-8972-61112C27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AC991-5290-43CD-ADCE-4EBBEECD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Masking creates stable patterns without erasing the reason a run failed.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82055-361C-4B76-A994-A66BDE37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BEFORE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C2C0B-3ABF-406D-9D55-B96A40C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worker 10.4.8.2 completed build 7312 in 12.8s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E1970-48D5-4066-AB77-809FC41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14A46-28DA-4AD8-B98D-33B94C32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38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AFTER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67E2F-CDAE-41BA-BD4A-4C87E8A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472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worker &lt;IP_ADDRESS&gt; completed build &lt;BUILD_ID&gt; in &lt;DURATION&gt;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E9BA2-2563-4F8C-9B05-C13BB123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MASK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136A6-C43F-40F2-BF64-011904BB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095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2095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Request IDs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Build IDs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Durations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Ephemeral IPs + ports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Temporary paths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72566-09F8-456C-B79D-CBE04FF9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PRESERVE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1C305F-695F-4FCD-8672-736194AF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4095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2095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Exit code 137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Exception class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Failed test name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Compiler diagnostic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Source file + 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145E06-2816-43F5-9739-22E274D7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Dynamic values can still be retained as protected numeric features for anomaly checks.</a:t>
            </a:r>
          </a:p>
        </p:txBody>
      </p:sp>
    </p:spTree>
    <p:extLst>
      <p:ext uri="{BB962C8B-B14F-4D97-AF65-F5344CB8AC3E}">
        <p14:creationId xmlns:p14="http://schemas.microsoft.com/office/powerpoint/2010/main" val="552242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33C28B-7071-499D-8993-2484B314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7FABC-DC6F-4B67-B622-3474CEC7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C2A4B-F1D4-4B8B-AEF0-A80ED8DB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86F10-2E0E-4178-8C03-4020803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15F72-6E2C-4711-8860-595E540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08F34-EE7F-412B-9CA3-47F5D53C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3B868-49A3-45FA-80ED-1B583985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DE657-9E19-4118-86CF-E22507A4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6EA47-A095-4686-90FC-131F1E16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73D25-31D3-45A6-8506-A9A1D8E7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929B7-DD01-430D-B192-06FBD061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3E285-59F7-4C66-A6EF-2442FC38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7CF71-218A-4E4D-9970-86A9A04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9AB38-C5BE-4E1B-8C47-EE23C18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2CA99-8DE5-4D6E-A263-3761B3B9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9D9F8F-68B1-4658-817D-6183123A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Drain routes each line to a small template 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0AD4A-8DF5-43CB-829F-1256547A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C90C6-6184-4603-9690-9A2D1FDA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Fixed-depth tree routing keeps comparisons bounded as template libraries grow.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F377D-D920-4EDD-93E7-5A854973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476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152400" tIns="17145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Compiling &lt;COUNT&gt; files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Compiling &lt;COUNT&gt; files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Compiling &lt;COUNT&gt;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A3314-C393-4E40-AD71-3EBC647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0507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AB4BC-ED53-4366-95C0-610646C1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66950"/>
            <a:ext cx="1200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TOKEN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98F78-E050-438A-AFEC-8796EA1B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0507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3FA69-6A29-48BA-8E4E-8C0A08F4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66950"/>
            <a:ext cx="1200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PREFIX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TREE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A3F06-7363-48AF-AA46-1DD6BBD4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0507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2D2A7D-1C24-4A35-A1F1-DC5A24F7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1409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LEAF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98642-6D3A-4DC0-BEE9-C659BDC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05075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6BFCD-C73C-4289-A216-54244039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1752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Compiling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&lt;COUNT&gt; files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C883B-F2A9-4DB9-843F-33C27FE1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TUNING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5595AC-1150-43E8-B9D2-009D974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8290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152400" tIns="142875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Threshold too strict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→ one family becomes many templates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BDB46C-C902-4FD5-97DA-A6A94AE1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29100"/>
            <a:ext cx="38290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152400" tIns="142875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Threshold too loose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→ unrelated meanings collapse together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D7D11D-3531-44C0-9E11-E441A36F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57650"/>
            <a:ext cx="2533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C9255-CA1D-49EF-853F-2ED3C39F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533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STABLE IDENTITY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Compare scope + canonical template text + fingerprint—not parser-local template numbers.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164A54-F5E6-4C51-AEC1-9CFDC824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150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7057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057A6"/>
                </a:solidFill>
                <a:latin typeface="Aptos"/>
                <a:ea typeface="Aptos"/>
                <a:cs typeface="Aptos"/>
              </a:rPr>
              <a:t>Jules: parse inside a stage  ·  Lattice: parse inside DAG node + attempt</a:t>
            </a:r>
          </a:p>
        </p:txBody>
      </p:sp>
    </p:spTree>
    <p:extLst>
      <p:ext uri="{BB962C8B-B14F-4D97-AF65-F5344CB8AC3E}">
        <p14:creationId xmlns:p14="http://schemas.microsoft.com/office/powerpoint/2010/main" val="1389818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FDA301-EBC1-41C3-B67C-03995295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B8405-EED1-4BD9-A80C-6122C950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6F45A-EA5D-4457-AA9E-5B270F6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845AB-AE17-4D47-B7FB-1D41C094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BCB69-970E-4DF5-803D-6E0626C8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6C6BF-E9F9-47A3-B439-81FD6206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BC920-A873-4FAC-91D2-78644885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A5809-205B-49BC-9540-A0B51E85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3E3EA-41EE-4EF7-AB43-8D500FCE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78131-F0AB-4058-8D86-2CF71AC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5605F-D8A6-4719-A730-D9375CE4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CAB46-64A6-4A46-B19A-824BFEBC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9F69E-B18C-4A5A-A884-8271519C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8C658-3EB2-41E9-BC27-2AAF8F23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D82F-78DF-46A2-8E08-FC5C6552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060906-296C-4FFD-83D7-7D32624F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baseline is a versioned, auditable artifact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18345-6FA6-4D25-A73A-060B08D0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F1867-5FE8-4C24-ACE6-A59B4B0C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Each file has one job; only complete versions become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6AC37-0FD3-4315-B027-33D1DB40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6291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171450" tIns="171450" rIns="15240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baselines/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└── seal101/payments/payment-api/JULES/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    ├── current.json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    └── v17/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        ├── baseline.json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        ├── templates.json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        ├── drain3_state.json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        ├── template_stats.json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        ├── versions.json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        ├── templates.md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        └── normalize_sample.txt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DC09A-056C-4151-B044-BF3FBD99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954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templates.json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D322F-881E-4D1B-9C15-E90D5E74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Main LogDiff input: text, fingerprint, scope,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C939A-8F36-49EF-BE84-B08D2F35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241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drain3_state.json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C966B-15AC-445B-BC37-74D2D506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Parser memory only—not the comparison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F18D2-9BD2-4B5A-BCBB-645A4CC7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527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baseline.json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01A08-D010-4079-ACCD-315AE2A3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Manifest: owner, version, source runs, artifact links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E4AB1-BC3F-4BCC-AF7C-5CD321FF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814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template_stats.json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AAE76-6083-43A7-9447-2DE2641F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Counts, distributions, scope and sequence statistics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605ACC-8379-4237-9DDE-14DF9CA8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100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versions.json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DB2115-A4D8-4B31-A158-705537B8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2910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Detection, rules, parser and fingerprint compatibility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BBF34-2A16-4293-A54A-58DC1BD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387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current.json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86DC41-ABFC-467D-A7B9-079E2CAA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Pointer to latest complete compatible baseline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DFB319-C79A-41DF-9FBA-DDCDFA39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WRITE FILES  →  VALIDATE CHECKSUMS + REDACTION  →  PUBLISH MANIFEST  →  CAS current.json</a:t>
            </a:r>
          </a:p>
        </p:txBody>
      </p:sp>
    </p:spTree>
    <p:extLst>
      <p:ext uri="{BB962C8B-B14F-4D97-AF65-F5344CB8AC3E}">
        <p14:creationId xmlns:p14="http://schemas.microsoft.com/office/powerpoint/2010/main" val="1834846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337C4A-E004-472E-962A-CC08844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341C2-F13B-48AB-966C-25C97F69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55A3E-00E0-4E3E-BA15-6A2F8831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36A91-271D-43ED-AF32-CEA43C88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10BF1-82C9-4193-90F5-28B6BECF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4F2E1-0F6D-484D-8F90-9CC75F45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1DBD1-54D7-455E-8AFE-79A02033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9F0D8-A55B-4A18-B973-2A9B17E6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1B0BD-CCD4-4AF2-83D1-30593BB5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43112-1ECD-4292-9837-0D40B01B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9E8F8-085E-4680-A5BA-E9288C40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9E61D-FE9D-4672-8EAC-B5EB8950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5568A-0643-456D-B44C-9862A7CA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84403-5329-4E76-A60A-89BB54C0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7C63B-31F3-4FCD-88DF-8BC959D5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C27C8C-1D9A-4B7A-ACE8-05AF63D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Four values isolate every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DA6C1-9C73-4178-9088-96C11AD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53CCF-02DF-4420-A43B-C6A21DB9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Stage, attempt, branch, and versions remain inside the baseline—not in its ownership key.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F011A-27A5-4FAD-92F1-E283FA6A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BASELINE OWNERSHIP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F3639-236E-40B5-AB97-F1FEED61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75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seal_id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A7AB1-605B-4D51-B598-ADC1AF88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DAD00-BC0B-4201-A6D5-EF46B251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project_id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1B346-CAFD-4561-8AE3-DB95CB7D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80302-9DDD-4184-9EBF-6041709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52650"/>
            <a:ext cx="175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repo_id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220FE-7135-4662-9B63-3272905A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F4E31-B992-49B5-9E56-1B9CD241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2266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source_type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D63C74-8401-40D9-B3BA-3821726D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501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seal101/payments/payment-api/JULES/v17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6A9DA2-5116-4A08-A0D7-5664E28C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501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seal101/payments/payment-api/LATTICE/v17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1294E-3F1A-416D-8364-D1F20C46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76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F6C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F6C4F"/>
                </a:solidFill>
                <a:latin typeface="Aptos"/>
                <a:ea typeface="Aptos"/>
                <a:cs typeface="Aptos"/>
              </a:rPr>
              <a:t>Different source_type → different baseline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6B1D1-0292-4AE8-9ADC-BF4FDEA9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STORED INSIDE THE BASELINE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F2BDB1-3BDE-41F0-97AA-EF17E296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4288">
            <a:solidFill>
              <a:srgbClr val="F4F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stage / DAG node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92D1DF-E654-4576-BE75-89C96D4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1066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4288">
            <a:solidFill>
              <a:srgbClr val="F4F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attempt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DF75BC-8D55-49B8-9EA7-65130A02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05400"/>
            <a:ext cx="1695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4288">
            <a:solidFill>
              <a:srgbClr val="F4F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branch + commit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644ABA-1CA9-4FE2-B373-29F8BC4C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05400"/>
            <a:ext cx="1676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4288">
            <a:solidFill>
              <a:srgbClr val="F4F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 version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ED3A40-1753-4A03-B521-7E353429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05400"/>
            <a:ext cx="2209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14288">
            <a:solidFill>
              <a:srgbClr val="F4F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rule + parser versions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A5068B-9BDD-447E-8BD3-05B02741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102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current.json resolves the latest compatible complete version below the key.</a:t>
            </a:r>
          </a:p>
        </p:txBody>
      </p:sp>
    </p:spTree>
    <p:extLst>
      <p:ext uri="{BB962C8B-B14F-4D97-AF65-F5344CB8AC3E}">
        <p14:creationId xmlns:p14="http://schemas.microsoft.com/office/powerpoint/2010/main" val="9884474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CA4E21-9C5E-4D72-A370-246850A1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B075D-D562-4B95-BE57-32833A82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45289-2F7A-454B-8035-06ED9E60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EB7EB-8D71-4DDD-AB3B-F90671A5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CA4D2-977A-460D-A187-2F9ADA82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2472C-9533-4AD3-82C9-B09C6A9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901D8-462A-42AB-B8B2-D99F1945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8F92B-449E-48D3-9AEE-43496D3A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32E-C818-4EF6-BCCC-7BAA89BC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493B7-CA39-41A1-96A4-3C6C9298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17C45-E2AF-4AC8-A9FA-ED6643F1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1D76F-57FE-45A8-82B9-8E55C8EC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8D478-DED8-458E-9AC9-47820125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C5B94-1144-47A4-92C9-9F67E0AB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6B1D3-21CE-4559-A8F8-864789ED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B27800-829A-4071-907D-D4621E62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1 hands Phase 2 a safe comparison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F131F-D176-4675-A31F-92BF4A61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3C12F-F0BD-4244-8B03-B19ABCCB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A failed run can now ask what changed—without relearning what normal means.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6ECA0-AA53-450B-92ED-D75A6A1C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TRUSTED SUCCESS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log + 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93736-4609-4891-B23A-EC06955F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050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F97AF-EBD2-4606-9BAE-BC001A90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24050"/>
            <a:ext cx="2286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SAME VERSIONED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71A1F-4218-46F9-976E-8BFAA159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1E808-FF2F-44AA-B345-199978D7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992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COMPLETE SUCCESS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1A21A-18AC-4A13-B505-501E5B0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6DA50-F2BE-4D7A-A92B-028D4471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3835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LogDiff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DE8A3-0C25-4E0C-97BB-C2314E31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7057A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057A6"/>
                </a:solidFill>
                <a:latin typeface="Aptos Mono"/>
                <a:ea typeface="Aptos Mono"/>
                <a:cs typeface="Aptos Mono"/>
              </a:rPr>
              <a:t>WHAT PHASE 2 RECEIVES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54E320-2082-436A-AE71-931A3E9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Stable template fingerprints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4F75CB-74C7-40E2-A6D3-97BD9758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243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Scope + order semantics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3DF2F-8A2F-4120-9246-4F37A6E6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Counts + support ranges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8975B2-509D-4204-AF0B-EE2B1AAC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243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Compatibility versions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B1F922-9049-4C1D-99FC-A40F084D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67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FB7DB-6EB2-4E7C-9C9A-ACF219A1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FOUR GUARDRAILS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1. Never mix Jules and Lattice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2. Redact before derived storage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3. Failures never update success 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4. Publish only complete versions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162A3F-451A-44D6-8283-A415A08E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5148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190500" tIns="171450" rIns="190500" bIns="152400" anchor="ctr">
            <a:normAutofit fontScale="97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Next: compare the failed run with the latest compatible baseline—then expand only the evidence that matters.</a:t>
            </a:r>
          </a:p>
        </p:txBody>
      </p:sp>
    </p:spTree>
    <p:extLst>
      <p:ext uri="{BB962C8B-B14F-4D97-AF65-F5344CB8AC3E}">
        <p14:creationId xmlns:p14="http://schemas.microsoft.com/office/powerpoint/2010/main" val="367060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6324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2026-08-23T19:05:49.8480000Z</dcterms:created>
  <dcterms:modified xsi:type="dcterms:W3CDTF">2026-08-23T19:05:49.8480000Z</dcterms:modified>
</coreProperties>
</file>