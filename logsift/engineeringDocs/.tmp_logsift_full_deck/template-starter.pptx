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77e1f969524d71" /><Relationship Type="http://schemas.openxmlformats.org/officeDocument/2006/relationships/extended-properties" Target="/docProps/app.xml" Id="Re176304b5844494c" /><Relationship Type="http://schemas.openxmlformats.org/officeDocument/2006/relationships/officeDocument" Target="/ppt/presentation.xml" Id="R571a7c8679fa49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d00ca682c14e53"/>
  </p:sldMasterIdLst>
  <p:notesMasterIdLst>
    <p:notesMasterId xmlns:r="http://schemas.openxmlformats.org/officeDocument/2006/relationships" r:id="R9068cb30e67d440d"/>
  </p:notesMasterIdLst>
  <p:sldIdLst>
    <p:sldId xmlns:r="http://schemas.openxmlformats.org/officeDocument/2006/relationships" id="256" r:id="R54899bd9950440c6"/>
    <p:sldId xmlns:r="http://schemas.openxmlformats.org/officeDocument/2006/relationships" id="257" r:id="Ra6eae3e5aca440c4"/>
    <p:sldId xmlns:r="http://schemas.openxmlformats.org/officeDocument/2006/relationships" id="258" r:id="R33e242e27dc243fc"/>
    <p:sldId xmlns:r="http://schemas.openxmlformats.org/officeDocument/2006/relationships" id="259" r:id="R18301e15abbe46c1"/>
    <p:sldId xmlns:r="http://schemas.openxmlformats.org/officeDocument/2006/relationships" id="260" r:id="R0725b4c9c6684c16"/>
    <p:sldId xmlns:r="http://schemas.openxmlformats.org/officeDocument/2006/relationships" id="261" r:id="R9b06e7b361c340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da4e4a2cc649ee" /><Relationship Type="http://schemas.openxmlformats.org/officeDocument/2006/relationships/slideMaster" Target="/ppt/slideMasters/slideMaster1.xml" Id="Recd00ca682c14e53" /><Relationship Type="http://schemas.openxmlformats.org/officeDocument/2006/relationships/notesMaster" Target="/ppt/notesMasters/notesMaster1.xml" Id="R9068cb30e67d440d" /><Relationship Type="http://schemas.openxmlformats.org/officeDocument/2006/relationships/presProps" Target="/ppt/presProps.xml" Id="R8a979c1d97674aad" /><Relationship Type="http://schemas.openxmlformats.org/officeDocument/2006/relationships/tableStyles" Target="/ppt/tableStyles.xml" Id="R0a22a2d5303c46fc" /><Relationship Type="http://schemas.openxmlformats.org/officeDocument/2006/relationships/slide" Target="/ppt/slides/slide1.xml" Id="R54899bd9950440c6" /><Relationship Type="http://schemas.openxmlformats.org/officeDocument/2006/relationships/slide" Target="/ppt/slides/slide2.xml" Id="Ra6eae3e5aca440c4" /><Relationship Type="http://schemas.openxmlformats.org/officeDocument/2006/relationships/slide" Target="/ppt/slides/slide3.xml" Id="R33e242e27dc243fc" /><Relationship Type="http://schemas.openxmlformats.org/officeDocument/2006/relationships/slide" Target="/ppt/slides/slide4.xml" Id="R18301e15abbe46c1" /><Relationship Type="http://schemas.openxmlformats.org/officeDocument/2006/relationships/slide" Target="/ppt/slides/slide5.xml" Id="R0725b4c9c6684c16" /><Relationship Type="http://schemas.openxmlformats.org/officeDocument/2006/relationships/slide" Target="/ppt/slides/slide6.xml" Id="R9b06e7b361c340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9e78dc425144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16324F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ecd61f2fca43e6" /><Relationship Type="http://schemas.openxmlformats.org/officeDocument/2006/relationships/notesMaster" Target="/ppt/notesMasters/notesMaster1.xml" Id="R04c62d9f3ac745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be062eab064c8e" /><Relationship Type="http://schemas.openxmlformats.org/officeDocument/2006/relationships/notesMaster" Target="/ppt/notesMasters/notesMaster1.xml" Id="R3ebc4399d4ff42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545782141648ac" /><Relationship Type="http://schemas.openxmlformats.org/officeDocument/2006/relationships/notesMaster" Target="/ppt/notesMasters/notesMaster1.xml" Id="R2df80f9467a04c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7bc13b09994620" /><Relationship Type="http://schemas.openxmlformats.org/officeDocument/2006/relationships/notesMaster" Target="/ppt/notesMasters/notesMaster1.xml" Id="R131a5a5e18cc4a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fd7f69f1de49a7" /><Relationship Type="http://schemas.openxmlformats.org/officeDocument/2006/relationships/notesMaster" Target="/ppt/notesMasters/notesMaster1.xml" Id="Red712a6f043748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403b5872b54d6f" /><Relationship Type="http://schemas.openxmlformats.org/officeDocument/2006/relationships/notesMaster" Target="/ppt/notesMasters/notesMaster1.xml" Id="R0736491a1a5240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audience problem: engineers should not have to read an entire noisy build log to find a small failure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/Users/rahulkumar/Documents/Project/logsift/engineeringDocs/final/logsift-architecture/01-problem-and-architecture.md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every later comparison depends on the same preprocessing versions used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left/right contrast to explain why line proximity is useful for Jules but potentially misleading for Lattice.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/Users/rahulkumar/Documents/Project/logsift/engineeringDocs/final/logsift-architecture/01-problem-and-architecture.md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- /Users/rahulkumar/Documents/Project/logsift/engineeringDocs/implementation/Offline_Baseline_Storage_and_Template_Management.md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every later comparison depends on the same preprocessing versions used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every later comparison depends on the same preprocessing versions used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making the Phase 2 contract explicit. The audience should now understand exactly what the offline flow produces.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/Users/rahulkumar/Documents/Project/logsift/engineeringDocs/final/logsift-architecture/01-problem-and-architecture.md</a:t>
            </a:r>
          </a:p>
          <a:p xmlns:a="http://schemas.openxmlformats.org/drawingml/2006/main">
            <a:r>
              <a:t>- /Users/rahulkumar/Documents/Project/logsift/engineeringDocs/final/logsift-architecture/02-offline-learning-flow.md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b1a39cb4549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df2e846e374f4b" /><Relationship Type="http://schemas.openxmlformats.org/officeDocument/2006/relationships/slideLayout" Target="/ppt/slideLayouts/slideLayout1.xml" Id="R9797be1193b448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97be1193b448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16324F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a7738fc9f41bd" /><Relationship Type="http://schemas.openxmlformats.org/officeDocument/2006/relationships/notesSlide" Target="/ppt/notesSlides/notesSlide1.xml" Id="R61d87172a78f45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42f7284ef413d" /><Relationship Type="http://schemas.openxmlformats.org/officeDocument/2006/relationships/notesSlide" Target="/ppt/notesSlides/notesSlide2.xml" Id="Rc22efa7567024c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0236cfe094a74" /><Relationship Type="http://schemas.openxmlformats.org/officeDocument/2006/relationships/notesSlide" Target="/ppt/notesSlides/notesSlide3.xml" Id="Rfa071b8cd60048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5072e09544b36" /><Relationship Type="http://schemas.openxmlformats.org/officeDocument/2006/relationships/notesSlide" Target="/ppt/notesSlides/notesSlide4.xml" Id="R6deecec21ca24b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32a1e57e946b0" /><Relationship Type="http://schemas.openxmlformats.org/officeDocument/2006/relationships/notesSlide" Target="/ppt/notesSlides/notesSlide5.xml" Id="R16265a34f3c043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2ade19fed434d" /><Relationship Type="http://schemas.openxmlformats.org/officeDocument/2006/relationships/notesSlide" Target="/ppt/notesSlides/notesSlide6.xml" Id="R1f97ec13b0fa4d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C7A824-0021-414F-9681-F8923A6F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85FD0-32BC-43C0-B70F-5C3E4550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7E90A-30BF-4C54-976A-F6C10C54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47466-67DE-4D5F-98BF-75EE9A25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B2099-2480-489A-A646-5207994D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D1C0-6AE3-4913-BF5E-EEABB0D3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2621A-CA70-42D9-854A-3A79C727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B3FE6-B4EF-46D9-AFDE-5A97F8DE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D4C5D-37A4-4203-8AFE-E85EA747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DC6B5-BA13-40E8-9711-353CCBB6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25676-4E5E-494A-B1D8-B08481E8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24B29-21F8-4001-99DA-EB0B33D3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D13AE-4CA9-43E4-BD46-D792C2AE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LOGSIFT · TECHNICAL SYSTEMS NOTEBOOK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8CC25-1912-4C53-A923-52A4D18C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8D535-6FF9-45C1-A1C7-4BB85FD9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5E6F3-EFE7-44AA-8322-C77581CB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1104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DDF1E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6764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17" name="deck-title">
            <a:extLst xmlns:a="http://schemas.openxmlformats.org/drawingml/2006/main">
              <a:ext uri="{FF2B5EF4-FFF2-40B4-BE49-F238E27FC236}">
                <a16:creationId xmlns:a16="http://schemas.microsoft.com/office/drawing/2014/main" id="{35FA2630-6AE0-43A9-9CD2-904FF23B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676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Logsift turns CI/CD noise into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3BAA4-8664-4F93-BDF4-29402A8C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Learn normal behavior from trusted successful runs—before a failure needs explaining.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2F0F1E-1AF2-4805-8627-249FA9AC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573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SUCCESSFUL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CI/CD 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5DCA1-1BF9-42DB-B1EF-54AC0182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E20CE-39BA-46AD-AC93-09E57898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VERSIONED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44204-C5DD-4E93-846B-0048454F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6235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073EA-3A3B-4111-A1CB-30DE98A8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2286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FAILURE-READY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COMPARISON 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3E2149-1C00-46FA-A80C-FFF01DD2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33900"/>
            <a:ext cx="5829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8A028-2CE6-4022-BE47-241DBB85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829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THE CORE IDEA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Teach the system what “normal” looks like, then measure what changed.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9C9FC6-59B8-4C0D-8CAC-35B0D84D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Technical architecture · reusable template · one idea per slide</a:t>
            </a:r>
          </a:p>
        </p:txBody>
      </p:sp>
    </p:spTree>
    <p:extLst>
      <p:ext uri="{BB962C8B-B14F-4D97-AF65-F5344CB8AC3E}">
        <p14:creationId xmlns:p14="http://schemas.microsoft.com/office/powerpoint/2010/main" val="1345328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8F7253-50F1-48D9-9E66-29F7DFE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81DA4-A0E6-4D9E-96E4-157CF3F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2057A-C7F3-4851-8184-5ADF18F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B478D-2F7C-45F2-AA99-1CBF7D69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BF100-8463-490B-83DA-B64D1200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4D76D-1554-4E78-828F-F6A720C6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A1471-D564-4600-A9CE-C4241222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E4CC7-C982-441A-B043-EB36DE48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5F4C0-E457-4729-9209-A300DDC9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A2B43-6364-41AB-AF80-22056B15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F7830-CAE2-4FC3-AB9E-B5DD225F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EB54E-8CDF-4469-BD9E-1ED76B6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5178A-B2AB-43D9-910D-DA3220AF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8E47E-C47F-4190-BB8D-9689F18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FC959-DDDB-491E-9011-891B2EC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5C4F0-2A37-4A96-B5F9-97CFB03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 trusted success becomes a reusable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C15DC-B21C-4A83-B80F-A21BDE80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AAB97-68AF-4C82-9730-90E0AC41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The offline flow is deterministic, versioned, and source-aware.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73B29-8184-43A7-931E-1FFC27F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90750"/>
            <a:ext cx="1181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Qualified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118C4-8425-4144-918C-E95DADE6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22612-BBBB-4C91-90CD-81904874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9075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Detect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13947-0AC5-4155-B5A0-728BCCEA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980FD-6C8A-4CDE-9165-40BFAC4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90750"/>
            <a:ext cx="1200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Canonical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4A146-5A2A-4676-9E25-1BD5628A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CED0C0-578B-4882-AF18-88111A37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90750"/>
            <a:ext cx="1066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42513-5AEE-4E06-9384-91F8615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3398D-B552-4077-BEE7-0A0B0486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90750"/>
            <a:ext cx="971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Redact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CEBF5-61F0-4696-AADF-578E39F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A62FD-555B-4073-9BAA-E33607B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D3D08-B39F-4EF1-ABB2-0A2CDA49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9F46AD-83D0-4D08-AFCB-8672E32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Drain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7F531-E867-4399-B57D-071A681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6AC7D2-DBFE-4B91-8450-31696284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19075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Publish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101271-EBAB-40A5-8411-38CE1FF3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ADMISSION RULES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DA0694-D279-498E-9882-D6390A2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6764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A0EBD-67EB-4961-A0F3-4FE32E1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4812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Successful + complete + known source + trusted main/master or release/*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C2B74E-3725-4CC1-8FFF-B49B6830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844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444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D2F3B2-698C-42AA-AD57-71D2D0CC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7677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Failed, cancelled, skipped, unstable, incomplete, or UNKNOWN source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CF06DF-A29F-40EE-8B5C-3D633CB7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276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406BE8-BE66-4962-9EDE-9195DB73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197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870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NON-NEGOTIABLE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 failed run never updates successful parser state or the shared baseline.</a:t>
            </a:r>
          </a:p>
        </p:txBody>
      </p:sp>
    </p:spTree>
    <p:extLst>
      <p:ext uri="{BB962C8B-B14F-4D97-AF65-F5344CB8AC3E}">
        <p14:creationId xmlns:p14="http://schemas.microsoft.com/office/powerpoint/2010/main" val="107964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8A0673-E624-40A7-A986-3611B50C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C5F4A-E675-442C-9AF1-B5A11CA5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D6B30-689E-4E97-B892-FC71C17A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E0295-F997-4303-B915-A067F09B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29A7D-3D79-427E-874B-48030B7B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A1DDA-AB04-469A-B16D-FE318449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33773-5821-475D-9136-9B8A8678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57339-C2DC-4D83-A20F-926FD3FA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54D77-D312-484A-AB8B-B8345A72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DF0F6-0F17-4F0B-AE85-1DCCD241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449F2-A987-4DDE-9405-0CDC7F4C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715D1-3689-4717-9FCE-38AFAF5F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89597-554C-4930-8A78-1752BFB9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A530C-D6D3-49D0-A27E-28322DCC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6A059-7CD4-43DF-99F9-5532B842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B2E89C-4ED8-4F0E-874F-26ABC599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Jules and Lattice cannot share a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E755B-46C8-4BED-8D88-E8A7DD11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ABE86-3E61-44C1-B057-B6A7E75B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They use one canonical event shape, but different ordering semantics.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69B2EA-D928-407D-BA1B-3DCE49A1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764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JULES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300ED-6F4E-4226-90EC-22750263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95450"/>
            <a:ext cx="1238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DDF1EE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6764"/>
                </a:solidFill>
                <a:latin typeface="Aptos"/>
                <a:ea typeface="Aptos"/>
                <a:cs typeface="Aptos"/>
              </a:rPr>
              <a:t>SEQUENTIAL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2FC66C-2306-46E6-A1D6-E7B919EA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42392-CB59-4C17-80D9-D9A59971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193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354F1-B3F5-4DCA-BE37-3FE6B765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PACKAGE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49E1FD-8959-496A-931D-3816BED4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193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A02E8C-8D39-4735-BE65-D24499B3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DDB49-E4BA-429B-9A29-E20B8461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Stage order is meaningful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Nearby lines usually share a stage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Compare within the same stage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59FE7D-920A-4696-82E2-7CC3B889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286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…/payment-api/JULES/v17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D5A7AB-319C-45F9-8185-7B90C295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9525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D8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85FD7-8796-4848-8E30-63598AC0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7057A6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7057A6"/>
                </a:solidFill>
                <a:latin typeface="Aptos Mono"/>
                <a:ea typeface="Aptos Mono"/>
                <a:cs typeface="Aptos Mono"/>
              </a:rPr>
              <a:t>LATTICE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133E8C-B767-4DDE-8271-C5A6C267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95450"/>
            <a:ext cx="13716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ECE5F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67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70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057A6"/>
                </a:solidFill>
                <a:latin typeface="Aptos"/>
                <a:ea typeface="Aptos"/>
                <a:cs typeface="Aptos"/>
              </a:rPr>
              <a:t>PARALLEL DAG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B56767-198C-4825-B928-15CA75F7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05754E-03DF-4347-BFE4-E2C4ED55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7650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04F274-B6F0-4CF7-857E-0A6EF0B1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21A22E-D4DE-4814-9ED3-4F5A2F80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43200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19AD27-0875-4B21-AB1D-CC1B0E62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764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0C8265-437D-40EC-9659-A1CFC337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860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0D0AA5-3303-45DB-A899-73C0B0A8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28875"/>
            <a:ext cx="5524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F314A5-C45D-4FB0-B2A0-7F0746EA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90900"/>
            <a:ext cx="4533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Physical lines may interleave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Preserve node, attempt, local order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• Compare inside the same DAG scope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FAFB1E-043F-41AC-BF21-64CE3E28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57750"/>
            <a:ext cx="4533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6324F"/>
                </a:solidFill>
                <a:latin typeface="Aptos Mono"/>
                <a:ea typeface="Aptos Mono"/>
                <a:cs typeface="Aptos Mono"/>
              </a:rPr>
              <a:t>…/payment-api/LATTICE/v17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09FAE4-AA47-444B-8B16-75281EF6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912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F6C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F6C4F"/>
                </a:solidFill>
                <a:latin typeface="Aptos"/>
                <a:ea typeface="Aptos"/>
                <a:cs typeface="Aptos"/>
              </a:rPr>
              <a:t>Same repository. Two independent notions of “normal.”</a:t>
            </a:r>
          </a:p>
        </p:txBody>
      </p:sp>
    </p:spTree>
    <p:extLst>
      <p:ext uri="{BB962C8B-B14F-4D97-AF65-F5344CB8AC3E}">
        <p14:creationId xmlns:p14="http://schemas.microsoft.com/office/powerpoint/2010/main" val="467218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8F7253-50F1-48D9-9E66-29F7DFE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81DA4-A0E6-4D9E-96E4-157CF3F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2057A-C7F3-4851-8184-5ADF18F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B478D-2F7C-45F2-AA99-1CBF7D69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BF100-8463-490B-83DA-B64D1200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4D76D-1554-4E78-828F-F6A720C6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A1471-D564-4600-A9CE-C4241222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E4CC7-C982-441A-B043-EB36DE48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5F4C0-E457-4729-9209-A300DDC9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A2B43-6364-41AB-AF80-22056B15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F7830-CAE2-4FC3-AB9E-B5DD225F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EB54E-8CDF-4469-BD9E-1ED76B6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5178A-B2AB-43D9-910D-DA3220AF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8E47E-C47F-4190-BB8D-9689F18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FC959-DDDB-491E-9011-891B2EC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5C4F0-2A37-4A96-B5F9-97CFB03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 trusted success becomes a reusable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C15DC-B21C-4A83-B80F-A21BDE80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AAB97-68AF-4C82-9730-90E0AC41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The offline flow is deterministic, versioned, and source-aware.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73B29-8184-43A7-931E-1FFC27F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90750"/>
            <a:ext cx="1181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Qualified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118C4-8425-4144-918C-E95DADE6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22612-BBBB-4C91-90CD-81904874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9075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Detect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13947-0AC5-4155-B5A0-728BCCEA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980FD-6C8A-4CDE-9165-40BFAC4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90750"/>
            <a:ext cx="1200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Canonical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4A146-5A2A-4676-9E25-1BD5628A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CED0C0-578B-4882-AF18-88111A37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90750"/>
            <a:ext cx="1066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42513-5AEE-4E06-9384-91F8615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3398D-B552-4077-BEE7-0A0B0486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90750"/>
            <a:ext cx="971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Redact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CEBF5-61F0-4696-AADF-578E39F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A62FD-555B-4073-9BAA-E33607B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D3D08-B39F-4EF1-ABB2-0A2CDA49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9F46AD-83D0-4D08-AFCB-8672E32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Drain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7F531-E867-4399-B57D-071A681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6AC7D2-DBFE-4B91-8450-31696284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19075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Publish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101271-EBAB-40A5-8411-38CE1FF3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ADMISSION RULES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DA0694-D279-498E-9882-D6390A2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6764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A0EBD-67EB-4961-A0F3-4FE32E1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4812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Successful + complete + known source + trusted main/master or release/*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C2B74E-3725-4CC1-8FFF-B49B6830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844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444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D2F3B2-698C-42AA-AD57-71D2D0CC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7677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Failed, cancelled, skipped, unstable, incomplete, or UNKNOWN source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CF06DF-A29F-40EE-8B5C-3D633CB7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276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406BE8-BE66-4962-9EDE-9195DB73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197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870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NON-NEGOTIABLE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 failed run never updates successful parser state or the shared baseline.</a:t>
            </a:r>
          </a:p>
        </p:txBody>
      </p:sp>
    </p:spTree>
    <p:extLst>
      <p:ext uri="{BB962C8B-B14F-4D97-AF65-F5344CB8AC3E}">
        <p14:creationId xmlns:p14="http://schemas.microsoft.com/office/powerpoint/2010/main" val="107964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8F7253-50F1-48D9-9E66-29F7DFE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81DA4-A0E6-4D9E-96E4-157CF3F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2057A-C7F3-4851-8184-5ADF18F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B478D-2F7C-45F2-AA99-1CBF7D69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BF100-8463-490B-83DA-B64D1200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4D76D-1554-4E78-828F-F6A720C6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A1471-D564-4600-A9CE-C4241222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E4CC7-C982-441A-B043-EB36DE48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5F4C0-E457-4729-9209-A300DDC9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A2B43-6364-41AB-AF80-22056B15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F7830-CAE2-4FC3-AB9E-B5DD225F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EB54E-8CDF-4469-BD9E-1ED76B6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5178A-B2AB-43D9-910D-DA3220AF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8E47E-C47F-4190-BB8D-9689F18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FC959-DDDB-491E-9011-891B2EC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05C4F0-2A37-4A96-B5F9-97CFB03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A trusted success becomes a reusable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C15DC-B21C-4A83-B80F-A21BDE80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AAB97-68AF-4C82-9730-90E0AC41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The offline flow is deterministic, versioned, and source-aware.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73B29-8184-43A7-931E-1FFC27F6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90750"/>
            <a:ext cx="1181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Qualified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118C4-8425-4144-918C-E95DADE6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22612-BBBB-4C91-90CD-81904874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190750"/>
            <a:ext cx="11239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Detect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13947-0AC5-4155-B5A0-728BCCEA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1980FD-6C8A-4CDE-9165-40BFAC4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90750"/>
            <a:ext cx="1200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Canonical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4A146-5A2A-4676-9E25-1BD5628A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CED0C0-578B-4882-AF18-88111A37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90750"/>
            <a:ext cx="1066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42513-5AEE-4E06-9384-91F8615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3398D-B552-4077-BEE7-0A0B0486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90750"/>
            <a:ext cx="971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Redact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CEBF5-61F0-4696-AADF-578E39FC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A62FD-555B-4073-9BAA-E33607B1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D3D08-B39F-4EF1-ABB2-0A2CDA49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9F46AD-83D0-4D08-AFCB-8672E32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90750"/>
            <a:ext cx="876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Drain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7F531-E867-4399-B57D-071A681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7650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6AC7D2-DBFE-4B91-8450-31696284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190750"/>
            <a:ext cx="1257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Publish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101271-EBAB-40A5-8411-38CE1FF3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F6C4F"/>
                </a:solidFill>
                <a:latin typeface="Aptos Mono"/>
                <a:ea typeface="Aptos Mono"/>
                <a:cs typeface="Aptos Mono"/>
              </a:rPr>
              <a:t>ADMISSION RULES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DA0694-D279-498E-9882-D6390A2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E676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6764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A0EBD-67EB-4961-A0F3-4FE32E1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4812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Successful + complete + known source + trusted main/master or release/*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C2B74E-3725-4CC1-8FFF-B49B6830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47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E2DA"/>
          </a:solidFill>
          <a:ln xmlns:a="http://schemas.openxmlformats.org/drawingml/2006/main" w="14288">
            <a:solidFill>
              <a:srgbClr val="DF6C4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8444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444"/>
                </a:solidFill>
                <a:latin typeface="Aptos"/>
                <a:ea typeface="Aptos"/>
                <a:cs typeface="Aptos"/>
              </a:rPr>
              <a:t>STOP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D2F3B2-698C-42AA-AD57-71D2D0CC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7677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Failed, cancelled, skipped, unstable, incomplete, or UNKNOWN source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CF06DF-A29F-40EE-8B5C-3D633CB7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276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406BE8-BE66-4962-9EDE-9195DB73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197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870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NON-NEGOTIABLE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A failed run never updates successful parser state or the shared baseline.</a:t>
            </a:r>
          </a:p>
        </p:txBody>
      </p:sp>
    </p:spTree>
    <p:extLst>
      <p:ext uri="{BB962C8B-B14F-4D97-AF65-F5344CB8AC3E}">
        <p14:creationId xmlns:p14="http://schemas.microsoft.com/office/powerpoint/2010/main" val="1079648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3B4041-1804-4332-90C1-820203D4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285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4F"/>
          </a:solidFill>
          <a:ln xmlns:a="http://schemas.openxmlformats.org/drawingml/2006/main" w="0">
            <a:solidFill>
              <a:srgbClr val="DF6C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6EC93-4CC5-46B0-B5EF-6BF53B1A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59321-62FD-4824-AA7F-4E49F1D6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C77DA-FD92-46DF-B674-4C2E5103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8C7E6-FE0A-4ABB-9E1A-D97500E5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6A29B-047F-45D8-8E37-D5166BAD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023E8-542C-4B96-ACAD-DFACD5C5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84A09-4785-466E-BFF3-B038B2D3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09550"/>
            <a:ext cx="9525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E6314-764C-4850-B022-4A153B6F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69F69-7AF8-4953-A4B5-F0F125DF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7BE21-E8C4-4D54-AF4C-A9BB5EB1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1500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B0541-772F-4D75-AE44-C1B5F8D5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52475"/>
            <a:ext cx="1257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CD8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045CE-C2A7-49D0-BB67-1CD89C9B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0E6764"/>
                </a:solidFill>
                <a:latin typeface="Aptos Mono"/>
                <a:ea typeface="Aptos Mono"/>
                <a:cs typeface="Aptos Mono"/>
              </a:rPr>
              <a:t>PHASE 1 · OFFLINE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671CA-B1A2-4085-A4C7-7E5DE38F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91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6B78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FE529-1F8A-4534-A01D-FDA58059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1009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8CC"/>
            </a:solidFill>
            <a:prstDash val="solid"/>
          </a:ln>
        </p:spPr>
      </p:sp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E814E-C29B-4F7A-9241-17A87761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1 hands Phase 2 a safe comparison 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C6B42-C62A-4C28-A0D0-C0EE57B7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131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5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26B5D-82F2-45BC-BABA-45D5A924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1049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F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8"/>
                </a:solidFill>
                <a:latin typeface="Aptos"/>
                <a:ea typeface="Aptos"/>
                <a:cs typeface="Aptos"/>
              </a:rPr>
              <a:t>A failed run can now ask what changed—without relearning what normal means.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1CAF1-1CAF-462C-85D7-722CD206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TRUSTED SUCCESS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log + metadata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14A9D-EE04-4828-A668-873C7004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050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D7C73-DCD0-4BF7-8941-2E234914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24050"/>
            <a:ext cx="2286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SAME VERSIONED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0AFB55-A039-4B3D-A683-076596F7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A86"/>
          </a:solidFill>
          <a:ln xmlns:a="http://schemas.openxmlformats.org/drawingml/2006/main" w="4763">
            <a:solidFill>
              <a:srgbClr val="158A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143013-C841-4836-918B-A1CAACB0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3835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1EE"/>
          </a:solidFill>
          <a:ln xmlns:a="http://schemas.openxmlformats.org/drawingml/2006/main" w="14288">
            <a:solidFill>
              <a:srgbClr val="158A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992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COMPLETE SUCCESS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2DC40-D0EE-464B-8965-84F4BAE0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4381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57A6"/>
          </a:solidFill>
          <a:ln xmlns:a="http://schemas.openxmlformats.org/drawingml/2006/main" w="4763">
            <a:solidFill>
              <a:srgbClr val="7057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3152B3-00D9-46D8-BF60-66EA1CC2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38350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PHASE 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LogDiff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7BFC2A-BEFD-41D4-AF61-A8DFD2C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7057A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057A6"/>
                </a:solidFill>
                <a:latin typeface="Aptos Mono"/>
                <a:ea typeface="Aptos Mono"/>
                <a:cs typeface="Aptos Mono"/>
              </a:rPr>
              <a:t>WHAT PHASE 2 RECEIVES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5D26D-4111-47E2-9684-2BF81BDA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Stable template fingerprints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F41BD0-8FA6-4CA6-AF01-C3BB3667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24300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Scope + order semantics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09EB0B-AA29-41E0-8B39-2BE241BF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Counts + support ranges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CDCA10-22B5-4F26-AB99-16E36559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24300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D8C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Compatibility versions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85E6B8-8FFF-42E8-B980-B5C86394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673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A6C"/>
          </a:solidFill>
          <a:ln xmlns:a="http://schemas.openxmlformats.org/drawingml/2006/main" w="0">
            <a:solidFill>
              <a:srgbClr val="B8AA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2940B0-DDF8-498C-8032-A072B00F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BE"/>
          </a:solidFill>
          <a:ln xmlns:a="http://schemas.openxmlformats.org/drawingml/2006/main" w="9525">
            <a:solidFill>
              <a:srgbClr val="F3D66B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FOUR GUARDRAILS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1. Never mix Jules and Lattice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2. Redact before derived storage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3. Failures never update success state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324F"/>
                </a:solidFill>
                <a:latin typeface="Aptos"/>
                <a:ea typeface="Aptos"/>
                <a:cs typeface="Aptos"/>
              </a:rPr>
              <a:t>4. Publish only complete versions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4FA65-0693-4E63-AF21-3A30E16B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5148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CE5F6"/>
          </a:solidFill>
          <a:ln xmlns:a="http://schemas.openxmlformats.org/drawingml/2006/main" w="14288">
            <a:solidFill>
              <a:srgbClr val="7057A6"/>
            </a:solidFill>
            <a:prstDash val="solid"/>
          </a:ln>
        </p:spPr>
        <p:txBody>
          <a:bodyPr xmlns:a="http://schemas.openxmlformats.org/drawingml/2006/main" wrap="square" lIns="190500" tIns="171450" rIns="190500" bIns="152400" anchor="ctr">
            <a:normAutofit fontScale="97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Next: compare the failed run with the latest compatible baseline—then expand only the evidence that matters.</a:t>
            </a:r>
          </a:p>
        </p:txBody>
      </p:sp>
    </p:spTree>
    <p:extLst>
      <p:ext uri="{BB962C8B-B14F-4D97-AF65-F5344CB8AC3E}">
        <p14:creationId xmlns:p14="http://schemas.microsoft.com/office/powerpoint/2010/main" val="1037825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0121" dir="4293903">
              <a:srgbClr val="16324F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2026-08-23T19:17:50.7900000Z</dcterms:created>
  <dcterms:modified xsi:type="dcterms:W3CDTF">2026-08-23T19:17:50.7900000Z</dcterms:modified>
</coreProperties>
</file>